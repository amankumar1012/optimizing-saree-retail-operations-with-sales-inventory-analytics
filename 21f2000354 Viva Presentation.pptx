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R%20trading%20data\S.R.%20Trading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R%20trading%20data\S.R.%20Trading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R%20trading%20data\S.R.%20Trading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R%20trading%20data\S.R.%20Trading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SR%20trading%20data\S.R.%20Trading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Revenue</a:t>
            </a:r>
            <a:r>
              <a:rPr lang="en-US" baseline="0"/>
              <a:t> &amp; ABC Classification by Category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'Category Analysis'!$C$25</c:f>
              <c:strCache>
                <c:ptCount val="1"/>
                <c:pt idx="0">
                  <c:v>Revenue (₹)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81-4C8C-AC4E-2C38CD76D112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81-4C8C-AC4E-2C38CD76D112}"/>
              </c:ext>
            </c:extLst>
          </c:dPt>
          <c:cat>
            <c:strRef>
              <c:f>'Category Analysis'!$B$26:$B$30</c:f>
              <c:strCache>
                <c:ptCount val="5"/>
                <c:pt idx="0">
                  <c:v>Print (Class A)</c:v>
                </c:pt>
                <c:pt idx="1">
                  <c:v>Others (Class A)</c:v>
                </c:pt>
                <c:pt idx="2">
                  <c:v>Handwork (Class A)</c:v>
                </c:pt>
                <c:pt idx="3">
                  <c:v>Brush (Class B)</c:v>
                </c:pt>
                <c:pt idx="4">
                  <c:v>Woven (Class C)</c:v>
                </c:pt>
              </c:strCache>
            </c:strRef>
          </c:cat>
          <c:val>
            <c:numRef>
              <c:f>'Category Analysis'!$C$26:$C$30</c:f>
              <c:numCache>
                <c:formatCode>"₹"\ #,##0.00</c:formatCode>
                <c:ptCount val="5"/>
                <c:pt idx="0">
                  <c:v>209475.1</c:v>
                </c:pt>
                <c:pt idx="1">
                  <c:v>174900</c:v>
                </c:pt>
                <c:pt idx="2">
                  <c:v>157671.6</c:v>
                </c:pt>
                <c:pt idx="3">
                  <c:v>27062.5</c:v>
                </c:pt>
                <c:pt idx="4">
                  <c:v>5300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81-4C8C-AC4E-2C38CD76D1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27148080"/>
        <c:axId val="727144240"/>
      </c:barChart>
      <c:catAx>
        <c:axId val="7271480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Category</a:t>
                </a:r>
              </a:p>
              <a:p>
                <a:pPr>
                  <a:defRPr/>
                </a:pP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144240"/>
        <c:crosses val="autoZero"/>
        <c:auto val="1"/>
        <c:lblAlgn val="ctr"/>
        <c:lblOffset val="100"/>
        <c:noMultiLvlLbl val="0"/>
      </c:catAx>
      <c:valAx>
        <c:axId val="727144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&quot;₹&quot;\ 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2714808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/>
              <a:t>Top 10 Products by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'Product Analysis'!$F$4</c:f>
              <c:strCache>
                <c:ptCount val="1"/>
                <c:pt idx="0">
                  <c:v>Revenue (₹)</c:v>
                </c:pt>
              </c:strCache>
            </c:strRef>
          </c:tx>
          <c:spPr>
            <a:gradFill flip="none" rotWithShape="1">
              <a:gsLst>
                <a:gs pos="0">
                  <a:schemeClr val="accent2"/>
                </a:gs>
                <a:gs pos="75000">
                  <a:schemeClr val="accent2">
                    <a:lumMod val="60000"/>
                    <a:lumOff val="40000"/>
                  </a:schemeClr>
                </a:gs>
                <a:gs pos="51000">
                  <a:schemeClr val="accent2">
                    <a:alpha val="75000"/>
                  </a:schemeClr>
                </a:gs>
                <a:gs pos="100000">
                  <a:schemeClr val="accent2">
                    <a:lumMod val="20000"/>
                    <a:lumOff val="80000"/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'Product Analysis'!$C$5:$C$14</c:f>
              <c:strCache>
                <c:ptCount val="10"/>
                <c:pt idx="0">
                  <c:v>Saree (EBR)</c:v>
                </c:pt>
                <c:pt idx="1">
                  <c:v>Chamundi print (Flower)</c:v>
                </c:pt>
                <c:pt idx="2">
                  <c:v>Saree MS-56</c:v>
                </c:pt>
                <c:pt idx="3">
                  <c:v>Saree MS-14</c:v>
                </c:pt>
                <c:pt idx="4">
                  <c:v>Saree</c:v>
                </c:pt>
                <c:pt idx="5">
                  <c:v>Chamundi Mukesh</c:v>
                </c:pt>
                <c:pt idx="6">
                  <c:v>Chamundi print HW</c:v>
                </c:pt>
                <c:pt idx="7">
                  <c:v>Chamundi print</c:v>
                </c:pt>
                <c:pt idx="8">
                  <c:v>Chamundi Mukesh Shaded</c:v>
                </c:pt>
                <c:pt idx="9">
                  <c:v>Chiffon Plain Brush (Handwork)</c:v>
                </c:pt>
              </c:strCache>
            </c:strRef>
          </c:cat>
          <c:val>
            <c:numRef>
              <c:f>'Product Analysis'!$F$5:$F$14</c:f>
              <c:numCache>
                <c:formatCode>_("₹"* #,##0.00_);_("₹"* \(#,##0.00\);_("₹"* "-"??_);_(@_)</c:formatCode>
                <c:ptCount val="10"/>
                <c:pt idx="0">
                  <c:v>84150</c:v>
                </c:pt>
                <c:pt idx="1">
                  <c:v>47725</c:v>
                </c:pt>
                <c:pt idx="2">
                  <c:v>40500</c:v>
                </c:pt>
                <c:pt idx="3">
                  <c:v>32000</c:v>
                </c:pt>
                <c:pt idx="4">
                  <c:v>29610</c:v>
                </c:pt>
                <c:pt idx="5">
                  <c:v>25675</c:v>
                </c:pt>
                <c:pt idx="6">
                  <c:v>24650</c:v>
                </c:pt>
                <c:pt idx="7">
                  <c:v>22748.9</c:v>
                </c:pt>
                <c:pt idx="8">
                  <c:v>21675</c:v>
                </c:pt>
                <c:pt idx="9">
                  <c:v>20150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A-4D8A-92D8-3C179EEF95B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1208616975"/>
        <c:axId val="1208614095"/>
      </c:barChart>
      <c:catAx>
        <c:axId val="120861697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PRODUCT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614095"/>
        <c:crosses val="autoZero"/>
        <c:auto val="1"/>
        <c:lblAlgn val="ctr"/>
        <c:lblOffset val="100"/>
        <c:noMultiLvlLbl val="0"/>
      </c:catAx>
      <c:valAx>
        <c:axId val="120861409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197" b="0" i="0" u="none" strike="noStrike" kern="1200" cap="all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97" b="0" i="0" u="none" strike="noStrike" kern="1200" cap="all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Revenue (₹)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197" b="0" i="0" u="none" strike="noStrike" kern="1200" cap="all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_(&quot;₹&quot;* #,##0.00_);_(&quot;₹&quot;* \(#,##0.00\);_(&quot;₹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86169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1200" dirty="0"/>
              <a:t>Monthly Revenue (Jan–Mar 2025) - MOM Trend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Trend'!$D$5</c:f>
              <c:strCache>
                <c:ptCount val="1"/>
                <c:pt idx="0">
                  <c:v>Units Sold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Trend'!$C$6:$C$8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'Monthly Trend'!$D$6:$D$8</c:f>
              <c:numCache>
                <c:formatCode>General</c:formatCode>
                <c:ptCount val="3"/>
                <c:pt idx="0">
                  <c:v>243</c:v>
                </c:pt>
                <c:pt idx="1">
                  <c:v>434</c:v>
                </c:pt>
                <c:pt idx="2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B3-4B4A-B388-E1FB2AC27A85}"/>
            </c:ext>
          </c:extLst>
        </c:ser>
        <c:ser>
          <c:idx val="1"/>
          <c:order val="1"/>
          <c:tx>
            <c:strRef>
              <c:f>'Monthly Trend'!$E$5</c:f>
              <c:strCache>
                <c:ptCount val="1"/>
                <c:pt idx="0">
                  <c:v>Revenue (₹)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-3.3780189381849131E-2"/>
                  <c:y val="-1.104652646179470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B3-4B4A-B388-E1FB2AC27A85}"/>
                </c:ext>
              </c:extLst>
            </c:dLbl>
            <c:dLbl>
              <c:idx val="1"/>
              <c:layout>
                <c:manualLayout>
                  <c:x val="0"/>
                  <c:y val="-2.2093052923589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0B3-4B4A-B388-E1FB2AC27A85}"/>
                </c:ext>
              </c:extLst>
            </c:dLbl>
            <c:dLbl>
              <c:idx val="2"/>
              <c:layout>
                <c:manualLayout>
                  <c:x val="6.7560378763697436E-3"/>
                  <c:y val="-6.7505770767431951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30B3-4B4A-B388-E1FB2AC27A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Trend'!$C$6:$C$8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'Monthly Trend'!$E$6:$E$8</c:f>
              <c:numCache>
                <c:formatCode>_("₹"* #,##0.00_);_("₹"* \(#,##0.00\);_("₹"* "-"??_);_(@_)</c:formatCode>
                <c:ptCount val="3"/>
                <c:pt idx="0">
                  <c:v>227945</c:v>
                </c:pt>
                <c:pt idx="1">
                  <c:v>258926.1</c:v>
                </c:pt>
                <c:pt idx="2">
                  <c:v>87538.1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B3-4B4A-B388-E1FB2AC27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003965119"/>
        <c:axId val="1003966079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'Monthly Trend'!$F$5</c15:sqref>
                        </c15:formulaRef>
                      </c:ext>
                    </c:extLst>
                    <c:strCache>
                      <c:ptCount val="1"/>
                      <c:pt idx="0">
                        <c:v>Transactions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'Monthly Trend'!$C$6:$C$8</c15:sqref>
                        </c15:formulaRef>
                      </c:ext>
                    </c:extLst>
                    <c:strCache>
                      <c:ptCount val="3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'Monthly Trend'!$F$6:$F$8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</c:v>
                      </c:pt>
                      <c:pt idx="1">
                        <c:v>18</c:v>
                      </c:pt>
                      <c:pt idx="2">
                        <c:v>13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6-30B3-4B4A-B388-E1FB2AC27A85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'Monthly Trend'!$G$5</c15:sqref>
                        </c15:formulaRef>
                      </c:ext>
                    </c:extLst>
                    <c:strCache>
                      <c:ptCount val="1"/>
                      <c:pt idx="0">
                        <c:v>Avg Revenue/Txn (₹)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4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4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'Monthly Trend'!$C$6:$C$8</c15:sqref>
                        </c15:formulaRef>
                      </c:ext>
                    </c:extLst>
                    <c:strCache>
                      <c:ptCount val="3"/>
                      <c:pt idx="0">
                        <c:v>Jan</c:v>
                      </c:pt>
                      <c:pt idx="1">
                        <c:v>Feb</c:v>
                      </c:pt>
                      <c:pt idx="2">
                        <c:v>Mar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'Monthly Trend'!$G$6:$G$8</c15:sqref>
                        </c15:formulaRef>
                      </c:ext>
                    </c:extLst>
                    <c:numCache>
                      <c:formatCode>_("₹"* #,##0.00_);_("₹"* \(#,##0.00\);_("₹"* "-"??_);_(@_)</c:formatCode>
                      <c:ptCount val="3"/>
                      <c:pt idx="0">
                        <c:v>9910.652173913044</c:v>
                      </c:pt>
                      <c:pt idx="1">
                        <c:v>14384.783333333333</c:v>
                      </c:pt>
                      <c:pt idx="2">
                        <c:v>6733.7000000000007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30B3-4B4A-B388-E1FB2AC27A85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4"/>
          <c:order val="4"/>
          <c:tx>
            <c:strRef>
              <c:f>'Monthly Trend'!$H$5</c:f>
              <c:strCache>
                <c:ptCount val="1"/>
                <c:pt idx="0">
                  <c:v>MoM Revenue Growth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-8.6409008309212706E-2"/>
                  <c:y val="7.468711392054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0B3-4B4A-B388-E1FB2AC27A85}"/>
                </c:ext>
              </c:extLst>
            </c:dLbl>
            <c:dLbl>
              <c:idx val="1"/>
              <c:layout>
                <c:manualLayout>
                  <c:x val="-0.16801751615680244"/>
                  <c:y val="0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00B05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B3-4B4A-B388-E1FB2AC27A85}"/>
                </c:ext>
              </c:extLst>
            </c:dLbl>
            <c:dLbl>
              <c:idx val="2"/>
              <c:layout>
                <c:manualLayout>
                  <c:x val="-0.10801126038651589"/>
                  <c:y val="-0.21211140353435895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0B3-4B4A-B388-E1FB2AC27A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'Monthly Trend'!$C$6:$C$8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'Monthly Trend'!$H$6:$H$8</c:f>
              <c:numCache>
                <c:formatCode>0.0%</c:formatCode>
                <c:ptCount val="3"/>
                <c:pt idx="0">
                  <c:v>0</c:v>
                </c:pt>
                <c:pt idx="1">
                  <c:v>0.13591480400973921</c:v>
                </c:pt>
                <c:pt idx="2">
                  <c:v>-0.66191859376092255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30B3-4B4A-B388-E1FB2AC27A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upDownBars>
          <c:gapWidth val="267"/>
          <c:upBars>
            <c:spPr>
              <a:gradFill>
                <a:gsLst>
                  <a:gs pos="100000">
                    <a:schemeClr val="lt1">
                      <a:lumMod val="85000"/>
                    </a:schemeClr>
                  </a:gs>
                  <a:gs pos="0">
                    <a:schemeClr val="lt1"/>
                  </a:gs>
                </a:gsLst>
                <a:path path="circle">
                  <a:fillToRect l="50000" t="50000" r="50000" b="50000"/>
                </a:path>
              </a:gradFill>
              <a:ln w="9525" cap="flat" cmpd="sng" algn="ctr">
                <a:solidFill>
                  <a:schemeClr val="lt1"/>
                </a:solidFill>
                <a:round/>
              </a:ln>
              <a:effectLst/>
            </c:spPr>
          </c:upBars>
          <c:downBars>
            <c:spPr>
              <a:gradFill>
                <a:gsLst>
                  <a:gs pos="100000">
                    <a:schemeClr val="dk1">
                      <a:lumMod val="95000"/>
                      <a:lumOff val="5000"/>
                    </a:schemeClr>
                  </a:gs>
                  <a:gs pos="0">
                    <a:schemeClr val="dk1">
                      <a:lumMod val="75000"/>
                      <a:lumOff val="25000"/>
                    </a:schemeClr>
                  </a:gs>
                </a:gsLst>
                <a:path path="circle">
                  <a:fillToRect l="50000" t="50000" r="50000" b="50000"/>
                </a:path>
              </a:gradFill>
              <a:ln w="9525">
                <a:solidFill>
                  <a:schemeClr val="dk1">
                    <a:lumMod val="75000"/>
                    <a:lumOff val="25000"/>
                  </a:schemeClr>
                </a:solidFill>
              </a:ln>
              <a:effectLst/>
            </c:spPr>
          </c:downBars>
        </c:upDownBars>
        <c:marker val="1"/>
        <c:smooth val="0"/>
        <c:axId val="607241712"/>
        <c:axId val="607233552"/>
      </c:lineChart>
      <c:catAx>
        <c:axId val="100396511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3966079"/>
        <c:crosses val="autoZero"/>
        <c:auto val="1"/>
        <c:lblAlgn val="ctr"/>
        <c:lblOffset val="100"/>
        <c:noMultiLvlLbl val="0"/>
      </c:catAx>
      <c:valAx>
        <c:axId val="10039660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3965119"/>
        <c:crosses val="autoZero"/>
        <c:crossBetween val="between"/>
      </c:valAx>
      <c:valAx>
        <c:axId val="60723355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7241712"/>
        <c:crosses val="max"/>
        <c:crossBetween val="between"/>
      </c:valAx>
      <c:catAx>
        <c:axId val="607241712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07233552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Customer Revenue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'Customer Analysis'!$F$4</c:f>
              <c:strCache>
                <c:ptCount val="1"/>
                <c:pt idx="0">
                  <c:v>Revenue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127-448C-A9DC-98F36F1D5E8F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127-448C-A9DC-98F36F1D5E8F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127-448C-A9DC-98F36F1D5E8F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127-448C-A9DC-98F36F1D5E8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'Customer Analysis'!$C$5:$C$8</c:f>
              <c:strCache>
                <c:ptCount val="4"/>
                <c:pt idx="0">
                  <c:v>Lucky Silk Store</c:v>
                </c:pt>
                <c:pt idx="1">
                  <c:v>Shyam Silk Store</c:v>
                </c:pt>
                <c:pt idx="2">
                  <c:v>Pamecha cloth centre</c:v>
                </c:pt>
                <c:pt idx="3">
                  <c:v>Kanchan A Mewara</c:v>
                </c:pt>
              </c:strCache>
            </c:strRef>
          </c:cat>
          <c:val>
            <c:numRef>
              <c:f>'Customer Analysis'!$F$5:$F$8</c:f>
              <c:numCache>
                <c:formatCode>"₹"\ #,##0.00</c:formatCode>
                <c:ptCount val="4"/>
                <c:pt idx="0">
                  <c:v>364455</c:v>
                </c:pt>
                <c:pt idx="1">
                  <c:v>169515</c:v>
                </c:pt>
                <c:pt idx="2">
                  <c:v>23338.1</c:v>
                </c:pt>
                <c:pt idx="3">
                  <c:v>17101.099999999999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27-448C-A9DC-98F36F1D5E8F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Purchase vs Sales Quantity by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cap="none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'Purchase vs Sales'!$C$6</c:f>
              <c:strCache>
                <c:ptCount val="1"/>
                <c:pt idx="0">
                  <c:v>Qty Purchased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'Purchase vs Sales'!$B$7:$B$11</c:f>
              <c:strCache>
                <c:ptCount val="5"/>
                <c:pt idx="0">
                  <c:v>Print</c:v>
                </c:pt>
                <c:pt idx="1">
                  <c:v>Others</c:v>
                </c:pt>
                <c:pt idx="2">
                  <c:v>Handwork</c:v>
                </c:pt>
                <c:pt idx="3">
                  <c:v>Brush</c:v>
                </c:pt>
                <c:pt idx="4">
                  <c:v>Woven</c:v>
                </c:pt>
              </c:strCache>
            </c:strRef>
          </c:cat>
          <c:val>
            <c:numRef>
              <c:f>'Purchase vs Sales'!$C$7:$C$11</c:f>
              <c:numCache>
                <c:formatCode>General</c:formatCode>
                <c:ptCount val="5"/>
                <c:pt idx="0">
                  <c:v>290</c:v>
                </c:pt>
                <c:pt idx="1">
                  <c:v>113</c:v>
                </c:pt>
                <c:pt idx="2">
                  <c:v>229</c:v>
                </c:pt>
                <c:pt idx="3">
                  <c:v>38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7A-4D66-B87C-067E5F5F8577}"/>
            </c:ext>
          </c:extLst>
        </c:ser>
        <c:ser>
          <c:idx val="1"/>
          <c:order val="1"/>
          <c:tx>
            <c:strRef>
              <c:f>'Purchase vs Sales'!$D$6</c:f>
              <c:strCache>
                <c:ptCount val="1"/>
                <c:pt idx="0">
                  <c:v>Qty Sold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'Purchase vs Sales'!$B$7:$B$11</c:f>
              <c:strCache>
                <c:ptCount val="5"/>
                <c:pt idx="0">
                  <c:v>Print</c:v>
                </c:pt>
                <c:pt idx="1">
                  <c:v>Others</c:v>
                </c:pt>
                <c:pt idx="2">
                  <c:v>Handwork</c:v>
                </c:pt>
                <c:pt idx="3">
                  <c:v>Brush</c:v>
                </c:pt>
                <c:pt idx="4">
                  <c:v>Woven</c:v>
                </c:pt>
              </c:strCache>
            </c:strRef>
          </c:cat>
          <c:val>
            <c:numRef>
              <c:f>'Purchase vs Sales'!$D$7:$D$11</c:f>
              <c:numCache>
                <c:formatCode>0.00</c:formatCode>
                <c:ptCount val="5"/>
                <c:pt idx="0">
                  <c:v>349</c:v>
                </c:pt>
                <c:pt idx="1">
                  <c:v>141</c:v>
                </c:pt>
                <c:pt idx="2">
                  <c:v>237</c:v>
                </c:pt>
                <c:pt idx="3">
                  <c:v>38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7A-4D66-B87C-067E5F5F85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99"/>
        <c:axId val="964436831"/>
        <c:axId val="964437311"/>
        <c:extLst>
          <c:ext xmlns:c15="http://schemas.microsoft.com/office/drawing/2012/chart" uri="{02D57815-91ED-43cb-92C2-25804820EDAC}">
            <c15:filteredBar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'Purchase vs Sales'!$E$6</c15:sqref>
                        </c15:formulaRef>
                      </c:ext>
                    </c:extLst>
                    <c:strCache>
                      <c:ptCount val="1"/>
                      <c:pt idx="0">
                        <c:v>Purchase Cost (₹)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'Purchase vs Sales'!$B$7:$B$11</c15:sqref>
                        </c15:formulaRef>
                      </c:ext>
                    </c:extLst>
                    <c:strCache>
                      <c:ptCount val="5"/>
                      <c:pt idx="0">
                        <c:v>Print</c:v>
                      </c:pt>
                      <c:pt idx="1">
                        <c:v>Others</c:v>
                      </c:pt>
                      <c:pt idx="2">
                        <c:v>Handwork</c:v>
                      </c:pt>
                      <c:pt idx="3">
                        <c:v>Brush</c:v>
                      </c:pt>
                      <c:pt idx="4">
                        <c:v>Woven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'Purchase vs Sales'!$E$7:$E$11</c15:sqref>
                        </c15:formulaRef>
                      </c:ext>
                    </c:extLst>
                    <c:numCache>
                      <c:formatCode>"₹"\ #,##0.00</c:formatCode>
                      <c:ptCount val="5"/>
                      <c:pt idx="0">
                        <c:v>174273.25</c:v>
                      </c:pt>
                      <c:pt idx="1">
                        <c:v>157110</c:v>
                      </c:pt>
                      <c:pt idx="2">
                        <c:v>143226.75</c:v>
                      </c:pt>
                      <c:pt idx="3">
                        <c:v>26153.5</c:v>
                      </c:pt>
                      <c:pt idx="4">
                        <c:v>5035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437A-4D66-B87C-067E5F5F8577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Sales'!$F$6</c15:sqref>
                        </c15:formulaRef>
                      </c:ext>
                    </c:extLst>
                    <c:strCache>
                      <c:ptCount val="1"/>
                      <c:pt idx="0">
                        <c:v>Sales Revenue (₹)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Sales'!$B$7:$B$11</c15:sqref>
                        </c15:formulaRef>
                      </c:ext>
                    </c:extLst>
                    <c:strCache>
                      <c:ptCount val="5"/>
                      <c:pt idx="0">
                        <c:v>Print</c:v>
                      </c:pt>
                      <c:pt idx="1">
                        <c:v>Others</c:v>
                      </c:pt>
                      <c:pt idx="2">
                        <c:v>Handwork</c:v>
                      </c:pt>
                      <c:pt idx="3">
                        <c:v>Brush</c:v>
                      </c:pt>
                      <c:pt idx="4">
                        <c:v>Woven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Sales'!$F$7:$F$11</c15:sqref>
                        </c15:formulaRef>
                      </c:ext>
                    </c:extLst>
                    <c:numCache>
                      <c:formatCode>"₹"\ #,##0.00</c:formatCode>
                      <c:ptCount val="5"/>
                      <c:pt idx="0">
                        <c:v>209475.1</c:v>
                      </c:pt>
                      <c:pt idx="1">
                        <c:v>174900</c:v>
                      </c:pt>
                      <c:pt idx="2">
                        <c:v>157671.6</c:v>
                      </c:pt>
                      <c:pt idx="3">
                        <c:v>27062.5</c:v>
                      </c:pt>
                      <c:pt idx="4">
                        <c:v>5300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437A-4D66-B87C-067E5F5F8577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Sales'!$G$6</c15:sqref>
                        </c15:formulaRef>
                      </c:ext>
                    </c:extLst>
                    <c:strCache>
                      <c:ptCount val="1"/>
                      <c:pt idx="0">
                        <c:v>Gross Profit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Sales'!$B$7:$B$11</c15:sqref>
                        </c15:formulaRef>
                      </c:ext>
                    </c:extLst>
                    <c:strCache>
                      <c:ptCount val="5"/>
                      <c:pt idx="0">
                        <c:v>Print</c:v>
                      </c:pt>
                      <c:pt idx="1">
                        <c:v>Others</c:v>
                      </c:pt>
                      <c:pt idx="2">
                        <c:v>Handwork</c:v>
                      </c:pt>
                      <c:pt idx="3">
                        <c:v>Brush</c:v>
                      </c:pt>
                      <c:pt idx="4">
                        <c:v>Woven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'Purchase vs Sales'!$G$7:$G$11</c15:sqref>
                        </c15:formulaRef>
                      </c:ext>
                    </c:extLst>
                    <c:numCache>
                      <c:formatCode>"₹"\ #,##0.00</c:formatCode>
                      <c:ptCount val="5"/>
                      <c:pt idx="0">
                        <c:v>35201.850000000006</c:v>
                      </c:pt>
                      <c:pt idx="1">
                        <c:v>17790</c:v>
                      </c:pt>
                      <c:pt idx="2">
                        <c:v>14444.850000000006</c:v>
                      </c:pt>
                      <c:pt idx="3">
                        <c:v>909</c:v>
                      </c:pt>
                      <c:pt idx="4">
                        <c:v>265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437A-4D66-B87C-067E5F5F8577}"/>
                  </c:ext>
                </c:extLst>
              </c15:ser>
            </c15:filteredBarSeries>
          </c:ext>
        </c:extLst>
      </c:barChart>
      <c:catAx>
        <c:axId val="964436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437311"/>
        <c:crosses val="autoZero"/>
        <c:auto val="1"/>
        <c:lblAlgn val="ctr"/>
        <c:lblOffset val="100"/>
        <c:noMultiLvlLbl val="0"/>
      </c:catAx>
      <c:valAx>
        <c:axId val="964437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Quantity (Pcs.)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443683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1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810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8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b="0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0.40873</cdr:x>
      <cdr:y>0.55719</cdr:y>
    </cdr:from>
    <cdr:to>
      <cdr:x>0.4497</cdr:x>
      <cdr:y>0.62887</cdr:y>
    </cdr:to>
    <cdr:cxnSp macro="">
      <cdr:nvCxnSpPr>
        <cdr:cNvPr id="6" name="Straight Arrow Connector 5">
          <a:extLst xmlns:a="http://schemas.openxmlformats.org/drawingml/2006/main">
            <a:ext uri="{FF2B5EF4-FFF2-40B4-BE49-F238E27FC236}">
              <a16:creationId xmlns:a16="http://schemas.microsoft.com/office/drawing/2014/main" id="{CE8ADB1A-8778-CCE5-1A74-96AA44346EC4}"/>
            </a:ext>
          </a:extLst>
        </cdr:cNvPr>
        <cdr:cNvCxnSpPr/>
      </cdr:nvCxnSpPr>
      <cdr:spPr>
        <a:xfrm xmlns:a="http://schemas.openxmlformats.org/drawingml/2006/main" flipV="1">
          <a:off x="2238501" y="1779193"/>
          <a:ext cx="224383" cy="228884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3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2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0.24006</cdr:x>
      <cdr:y>0.3211</cdr:y>
    </cdr:from>
    <cdr:to>
      <cdr:x>0.28561</cdr:x>
      <cdr:y>0.42003</cdr:y>
    </cdr:to>
    <cdr:cxnSp macro="">
      <cdr:nvCxnSpPr>
        <cdr:cNvPr id="7" name="Straight Arrow Connector 6">
          <a:extLst xmlns:a="http://schemas.openxmlformats.org/drawingml/2006/main">
            <a:ext uri="{FF2B5EF4-FFF2-40B4-BE49-F238E27FC236}">
              <a16:creationId xmlns:a16="http://schemas.microsoft.com/office/drawing/2014/main" id="{01702B61-2F8E-3CA5-86BA-D07BAA3F722F}"/>
            </a:ext>
          </a:extLst>
        </cdr:cNvPr>
        <cdr:cNvCxnSpPr/>
      </cdr:nvCxnSpPr>
      <cdr:spPr>
        <a:xfrm xmlns:a="http://schemas.openxmlformats.org/drawingml/2006/main" flipV="1">
          <a:off x="1314756" y="1025300"/>
          <a:ext cx="249467" cy="315896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3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2">
          <a:schemeClr val="dk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0.5643</cdr:x>
      <cdr:y>0.46153</cdr:y>
    </cdr:from>
    <cdr:to>
      <cdr:x>0.5979</cdr:x>
      <cdr:y>0.49266</cdr:y>
    </cdr:to>
    <cdr:cxnSp macro="">
      <cdr:nvCxnSpPr>
        <cdr:cNvPr id="9" name="Straight Arrow Connector 8">
          <a:extLst xmlns:a="http://schemas.openxmlformats.org/drawingml/2006/main">
            <a:ext uri="{FF2B5EF4-FFF2-40B4-BE49-F238E27FC236}">
              <a16:creationId xmlns:a16="http://schemas.microsoft.com/office/drawing/2014/main" id="{D114972B-CE21-023D-36F7-2776CBB658B4}"/>
            </a:ext>
          </a:extLst>
        </cdr:cNvPr>
        <cdr:cNvCxnSpPr/>
      </cdr:nvCxnSpPr>
      <cdr:spPr>
        <a:xfrm xmlns:a="http://schemas.openxmlformats.org/drawingml/2006/main" flipV="1">
          <a:off x="3090570" y="1473739"/>
          <a:ext cx="184019" cy="99402"/>
        </a:xfrm>
        <a:prstGeom xmlns:a="http://schemas.openxmlformats.org/drawingml/2006/main" prst="straightConnector1">
          <a:avLst/>
        </a:prstGeom>
        <a:ln xmlns:a="http://schemas.openxmlformats.org/drawingml/2006/main">
          <a:tailEnd type="triangle"/>
        </a:ln>
      </cdr:spPr>
      <cdr:style>
        <a:lnRef xmlns:a="http://schemas.openxmlformats.org/drawingml/2006/main" idx="3">
          <a:schemeClr val="dk1"/>
        </a:lnRef>
        <a:fillRef xmlns:a="http://schemas.openxmlformats.org/drawingml/2006/main" idx="0">
          <a:schemeClr val="dk1"/>
        </a:fillRef>
        <a:effectRef xmlns:a="http://schemas.openxmlformats.org/drawingml/2006/main" idx="2">
          <a:schemeClr val="dk1"/>
        </a:effectRef>
        <a:fontRef xmlns:a="http://schemas.openxmlformats.org/drawingml/2006/main" idx="minor">
          <a:schemeClr val="tx1"/>
        </a:fontRef>
      </cdr:style>
    </cdr:cxn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126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9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137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Saree Retail Operations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Sales &amp; Inventory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19659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S.R. Trading Co., Chandni Chowk, Delhi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1480" y="2514600"/>
            <a:ext cx="777240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Kumar  |  Roll: 21f2000354</a:t>
            </a:r>
            <a:r>
              <a:rPr lang="en-US" sz="1300" dirty="0">
                <a:solidFill>
                  <a:srgbClr val="C8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BDM Capstone Project   |   IIT Madras – Online BS Program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Approach  •  January – March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Business &amp; Project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Business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S.R. Trading Co.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 wholesale B2B business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Chandni Chowk, Delhi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Sudesh Kumar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Anil Thakur (store staff)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Print, Handwork, Others, Brush, Woven</a:t>
            </a:r>
          </a:p>
          <a:p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SKUs:</a:t>
            </a:r>
            <a:r>
              <a:rPr lang="en-US" sz="1400" b="1" dirty="0">
                <a:solidFill>
                  <a:srgbClr val="1B2A4A"/>
                </a:solidFill>
              </a:rPr>
              <a:t>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Unique SKUs across 5 categories</a:t>
            </a:r>
          </a:p>
          <a:p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</a:t>
            </a:r>
            <a:r>
              <a:rPr lang="en-US" sz="1400" b="1" dirty="0">
                <a:solidFill>
                  <a:srgbClr val="1B2A4A"/>
                </a:solidFill>
              </a:rPr>
              <a:t>: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– Mar 2025</a:t>
            </a:r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869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Problem Statements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effective inventory management → stockouts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GB" sz="1400" dirty="0"/>
              <a:t> Due to a lack of data-driven insights, the shop may not be optimizing its sales potential, which could lead to lost income possibilities.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purchasing (no demand-based planning)
</a:t>
            </a:r>
            <a:r>
              <a:rPr lang="en-US" sz="14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GB" sz="1400" dirty="0"/>
              <a:t>In traditional saree market of Chandni Chowk, credit is a vital part of doing business. The business also faces credit line issues. 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Methodology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8BE61AA-61C5-C325-05F9-4D415D3A551D}"/>
              </a:ext>
            </a:extLst>
          </p:cNvPr>
          <p:cNvGrpSpPr/>
          <p:nvPr/>
        </p:nvGrpSpPr>
        <p:grpSpPr>
          <a:xfrm>
            <a:off x="365760" y="868680"/>
            <a:ext cx="1965960" cy="746681"/>
            <a:chOff x="365760" y="868680"/>
            <a:chExt cx="1965960" cy="1005840"/>
          </a:xfrm>
        </p:grpSpPr>
        <p:sp>
          <p:nvSpPr>
            <p:cNvPr id="4" name="Shape 2"/>
            <p:cNvSpPr/>
            <p:nvPr/>
          </p:nvSpPr>
          <p:spPr>
            <a:xfrm>
              <a:off x="365760" y="868680"/>
              <a:ext cx="1965960" cy="1005840"/>
            </a:xfrm>
            <a:prstGeom prst="rect">
              <a:avLst/>
            </a:prstGeom>
            <a:solidFill>
              <a:srgbClr val="7B1C1C"/>
            </a:solidFill>
            <a:ln w="12700">
              <a:solidFill>
                <a:srgbClr val="7B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365760" y="886968"/>
              <a:ext cx="1965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 Months</a:t>
              </a:r>
              <a:endParaRPr lang="en-US" sz="22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365760" y="1408176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Jan–Mar 2025</a:t>
              </a:r>
              <a:endParaRPr lang="en-US" sz="1100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391808-58AE-36D1-870F-C94B07366FEA}"/>
              </a:ext>
            </a:extLst>
          </p:cNvPr>
          <p:cNvGrpSpPr/>
          <p:nvPr/>
        </p:nvGrpSpPr>
        <p:grpSpPr>
          <a:xfrm>
            <a:off x="2514600" y="868680"/>
            <a:ext cx="1965960" cy="746681"/>
            <a:chOff x="2514600" y="868680"/>
            <a:chExt cx="1965960" cy="1005840"/>
          </a:xfrm>
        </p:grpSpPr>
        <p:sp>
          <p:nvSpPr>
            <p:cNvPr id="7" name="Shape 5"/>
            <p:cNvSpPr/>
            <p:nvPr/>
          </p:nvSpPr>
          <p:spPr>
            <a:xfrm>
              <a:off x="2514600" y="868680"/>
              <a:ext cx="1965960" cy="1005840"/>
            </a:xfrm>
            <a:prstGeom prst="rect">
              <a:avLst/>
            </a:prstGeom>
            <a:solidFill>
              <a:srgbClr val="7B1C1C"/>
            </a:solidFill>
            <a:ln w="12700">
              <a:solidFill>
                <a:srgbClr val="7B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2514600" y="886968"/>
              <a:ext cx="1965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54</a:t>
              </a:r>
              <a:endParaRPr lang="en-US" sz="22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2514600" y="1408176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Sales Transactions</a:t>
              </a:r>
              <a:endParaRPr lang="en-US" sz="11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719061-D2AC-15D8-9DC3-9583E4726442}"/>
              </a:ext>
            </a:extLst>
          </p:cNvPr>
          <p:cNvGrpSpPr/>
          <p:nvPr/>
        </p:nvGrpSpPr>
        <p:grpSpPr>
          <a:xfrm>
            <a:off x="4663440" y="868680"/>
            <a:ext cx="1965960" cy="746681"/>
            <a:chOff x="4663440" y="868680"/>
            <a:chExt cx="1965960" cy="1005840"/>
          </a:xfrm>
        </p:grpSpPr>
        <p:sp>
          <p:nvSpPr>
            <p:cNvPr id="10" name="Shape 8"/>
            <p:cNvSpPr/>
            <p:nvPr/>
          </p:nvSpPr>
          <p:spPr>
            <a:xfrm>
              <a:off x="4663440" y="868680"/>
              <a:ext cx="1965960" cy="1005840"/>
            </a:xfrm>
            <a:prstGeom prst="rect">
              <a:avLst/>
            </a:prstGeom>
            <a:solidFill>
              <a:srgbClr val="7B1C1C"/>
            </a:solidFill>
            <a:ln w="12700">
              <a:solidFill>
                <a:srgbClr val="7B1C1C"/>
              </a:solidFill>
              <a:prstDash val="soli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4663440" y="886968"/>
              <a:ext cx="1965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49</a:t>
              </a:r>
              <a:endParaRPr lang="en-US" sz="22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4663440" y="1408176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Purchase Transactions</a:t>
              </a:r>
              <a:endParaRPr lang="en-US" sz="11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21DBDAE-EA65-57C4-5F1E-5FF0DA84F2DD}"/>
              </a:ext>
            </a:extLst>
          </p:cNvPr>
          <p:cNvGrpSpPr/>
          <p:nvPr/>
        </p:nvGrpSpPr>
        <p:grpSpPr>
          <a:xfrm>
            <a:off x="6812280" y="868680"/>
            <a:ext cx="1965960" cy="746681"/>
            <a:chOff x="6812280" y="868680"/>
            <a:chExt cx="1965960" cy="1005840"/>
          </a:xfrm>
        </p:grpSpPr>
        <p:sp>
          <p:nvSpPr>
            <p:cNvPr id="13" name="Shape 11"/>
            <p:cNvSpPr/>
            <p:nvPr/>
          </p:nvSpPr>
          <p:spPr>
            <a:xfrm>
              <a:off x="6812280" y="868680"/>
              <a:ext cx="1965960" cy="1005840"/>
            </a:xfrm>
            <a:prstGeom prst="rect">
              <a:avLst/>
            </a:prstGeom>
            <a:solidFill>
              <a:srgbClr val="7B1C1C"/>
            </a:solidFill>
            <a:ln w="12700">
              <a:solidFill>
                <a:srgbClr val="7B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6812280" y="886968"/>
              <a:ext cx="1965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44</a:t>
              </a:r>
              <a:endParaRPr lang="en-US" sz="2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6812280" y="1408176"/>
              <a:ext cx="196596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Unique SKUs</a:t>
              </a:r>
              <a:endParaRPr lang="en-US" sz="11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292608" y="2783176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Methods Used</a:t>
            </a:r>
            <a:endParaRPr lang="en-US" sz="15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5484F02-F8E5-6590-DA22-914C4E2B242D}"/>
              </a:ext>
            </a:extLst>
          </p:cNvPr>
          <p:cNvGrpSpPr/>
          <p:nvPr/>
        </p:nvGrpSpPr>
        <p:grpSpPr>
          <a:xfrm>
            <a:off x="347473" y="3118926"/>
            <a:ext cx="4114800" cy="554853"/>
            <a:chOff x="365760" y="2423160"/>
            <a:chExt cx="4114800" cy="594360"/>
          </a:xfrm>
        </p:grpSpPr>
        <p:sp>
          <p:nvSpPr>
            <p:cNvPr id="17" name="Shape 15"/>
            <p:cNvSpPr/>
            <p:nvPr/>
          </p:nvSpPr>
          <p:spPr>
            <a:xfrm>
              <a:off x="365760" y="2423160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6"/>
            <p:cNvSpPr/>
            <p:nvPr/>
          </p:nvSpPr>
          <p:spPr>
            <a:xfrm>
              <a:off x="475488" y="2468880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ABC / Pareto Analysis</a:t>
              </a:r>
              <a:endParaRPr lang="en-US" sz="12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475488" y="2724912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Classify SKUs into A/B/C tiers by revenue contribution</a:t>
              </a:r>
              <a:endParaRPr lang="en-US" sz="105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424F20-BDA4-C4B5-F61A-9424927BEB49}"/>
              </a:ext>
            </a:extLst>
          </p:cNvPr>
          <p:cNvGrpSpPr/>
          <p:nvPr/>
        </p:nvGrpSpPr>
        <p:grpSpPr>
          <a:xfrm>
            <a:off x="340436" y="3752674"/>
            <a:ext cx="4140123" cy="554853"/>
            <a:chOff x="365760" y="3127248"/>
            <a:chExt cx="4114800" cy="594360"/>
          </a:xfrm>
        </p:grpSpPr>
        <p:sp>
          <p:nvSpPr>
            <p:cNvPr id="20" name="Shape 18"/>
            <p:cNvSpPr/>
            <p:nvPr/>
          </p:nvSpPr>
          <p:spPr>
            <a:xfrm>
              <a:off x="365760" y="3127248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9"/>
            <p:cNvSpPr/>
            <p:nvPr/>
          </p:nvSpPr>
          <p:spPr>
            <a:xfrm>
              <a:off x="475488" y="317296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Monthly Sales Trend</a:t>
              </a:r>
              <a:endParaRPr lang="en-US" sz="12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475488" y="3429000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Identify seasonal demand peaks &amp; MoM growth</a:t>
              </a:r>
              <a:endParaRPr lang="en-US" sz="1050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ADFE3ED-5598-D8C0-9A77-37BB18A47E65}"/>
              </a:ext>
            </a:extLst>
          </p:cNvPr>
          <p:cNvGrpSpPr/>
          <p:nvPr/>
        </p:nvGrpSpPr>
        <p:grpSpPr>
          <a:xfrm>
            <a:off x="340436" y="4433082"/>
            <a:ext cx="4140123" cy="571500"/>
            <a:chOff x="365760" y="3831336"/>
            <a:chExt cx="4114800" cy="594360"/>
          </a:xfrm>
        </p:grpSpPr>
        <p:sp>
          <p:nvSpPr>
            <p:cNvPr id="23" name="Shape 21"/>
            <p:cNvSpPr/>
            <p:nvPr/>
          </p:nvSpPr>
          <p:spPr>
            <a:xfrm>
              <a:off x="365760" y="3831336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475488" y="3877056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Purchase vs. Sales</a:t>
              </a:r>
              <a:endParaRPr lang="en-US" sz="12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75488" y="413308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 inventory gaps &amp; stockout risk</a:t>
              </a:r>
              <a:endParaRPr lang="en-US" sz="105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A1300E-EF56-69CF-1790-472BD01453BB}"/>
              </a:ext>
            </a:extLst>
          </p:cNvPr>
          <p:cNvGrpSpPr/>
          <p:nvPr/>
        </p:nvGrpSpPr>
        <p:grpSpPr>
          <a:xfrm>
            <a:off x="4606465" y="3296390"/>
            <a:ext cx="4218902" cy="594360"/>
            <a:chOff x="4663440" y="2423160"/>
            <a:chExt cx="4114800" cy="594360"/>
          </a:xfrm>
        </p:grpSpPr>
        <p:sp>
          <p:nvSpPr>
            <p:cNvPr id="26" name="Shape 24"/>
            <p:cNvSpPr/>
            <p:nvPr/>
          </p:nvSpPr>
          <p:spPr>
            <a:xfrm>
              <a:off x="4663440" y="2423160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5"/>
            <p:cNvSpPr/>
            <p:nvPr/>
          </p:nvSpPr>
          <p:spPr>
            <a:xfrm>
              <a:off x="4773168" y="2468880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Customer Revenue Distribution &amp; Risk</a:t>
              </a:r>
              <a:endParaRPr lang="en-US" sz="12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4773168" y="2724912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Quantify revenue dependency on buyers</a:t>
              </a:r>
              <a:endParaRPr lang="en-US" sz="105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1AB37A4-F050-4214-2087-D56ECF8C2779}"/>
              </a:ext>
            </a:extLst>
          </p:cNvPr>
          <p:cNvGrpSpPr/>
          <p:nvPr/>
        </p:nvGrpSpPr>
        <p:grpSpPr>
          <a:xfrm>
            <a:off x="4625185" y="4114800"/>
            <a:ext cx="4218902" cy="594360"/>
            <a:chOff x="4663440" y="3127248"/>
            <a:chExt cx="4114800" cy="594360"/>
          </a:xfrm>
        </p:grpSpPr>
        <p:sp>
          <p:nvSpPr>
            <p:cNvPr id="29" name="Shape 27"/>
            <p:cNvSpPr/>
            <p:nvPr/>
          </p:nvSpPr>
          <p:spPr>
            <a:xfrm>
              <a:off x="4663440" y="3127248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8"/>
            <p:cNvSpPr/>
            <p:nvPr/>
          </p:nvSpPr>
          <p:spPr>
            <a:xfrm>
              <a:off x="4773168" y="3172968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Gross Profit Margin</a:t>
              </a:r>
              <a:endParaRPr lang="en-US" sz="1200" dirty="0"/>
            </a:p>
          </p:txBody>
        </p:sp>
        <p:sp>
          <p:nvSpPr>
            <p:cNvPr id="31" name="Text 29"/>
            <p:cNvSpPr/>
            <p:nvPr/>
          </p:nvSpPr>
          <p:spPr>
            <a:xfrm>
              <a:off x="4773168" y="3429000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55555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Compare category-level profitability</a:t>
              </a:r>
              <a:endParaRPr lang="en-US" sz="1050" dirty="0"/>
            </a:p>
          </p:txBody>
        </p:sp>
      </p:grpSp>
      <p:sp>
        <p:nvSpPr>
          <p:cNvPr id="32" name="Text 14">
            <a:extLst>
              <a:ext uri="{FF2B5EF4-FFF2-40B4-BE49-F238E27FC236}">
                <a16:creationId xmlns:a16="http://schemas.microsoft.com/office/drawing/2014/main" id="{AA2000EE-8269-EDD5-E8C0-A56837E82051}"/>
              </a:ext>
            </a:extLst>
          </p:cNvPr>
          <p:cNvSpPr/>
          <p:nvPr/>
        </p:nvSpPr>
        <p:spPr>
          <a:xfrm>
            <a:off x="292608" y="173502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Cleaning </a:t>
            </a:r>
            <a:endParaRPr lang="en-US" sz="15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D3D279E-FF9B-4B5A-E941-519E708CECDA}"/>
              </a:ext>
            </a:extLst>
          </p:cNvPr>
          <p:cNvGrpSpPr/>
          <p:nvPr/>
        </p:nvGrpSpPr>
        <p:grpSpPr>
          <a:xfrm>
            <a:off x="340437" y="2134476"/>
            <a:ext cx="4121836" cy="648700"/>
            <a:chOff x="358724" y="2423160"/>
            <a:chExt cx="4121836" cy="594360"/>
          </a:xfrm>
        </p:grpSpPr>
        <p:sp>
          <p:nvSpPr>
            <p:cNvPr id="43" name="Shape 15">
              <a:extLst>
                <a:ext uri="{FF2B5EF4-FFF2-40B4-BE49-F238E27FC236}">
                  <a16:creationId xmlns:a16="http://schemas.microsoft.com/office/drawing/2014/main" id="{39C70E39-76E2-DC93-F9C3-311C79D806F0}"/>
                </a:ext>
              </a:extLst>
            </p:cNvPr>
            <p:cNvSpPr/>
            <p:nvPr/>
          </p:nvSpPr>
          <p:spPr>
            <a:xfrm>
              <a:off x="365760" y="2423160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E99D55B5-CB53-2724-76D6-DEE791399FEA}"/>
                </a:ext>
              </a:extLst>
            </p:cNvPr>
            <p:cNvSpPr/>
            <p:nvPr/>
          </p:nvSpPr>
          <p:spPr>
            <a:xfrm>
              <a:off x="377013" y="2429563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Collection</a:t>
              </a:r>
            </a:p>
          </p:txBody>
        </p:sp>
        <p:sp>
          <p:nvSpPr>
            <p:cNvPr id="45" name="Text 17">
              <a:extLst>
                <a:ext uri="{FF2B5EF4-FFF2-40B4-BE49-F238E27FC236}">
                  <a16:creationId xmlns:a16="http://schemas.microsoft.com/office/drawing/2014/main" id="{04CFB5D2-6883-548E-2D53-5E38DA10FA62}"/>
                </a:ext>
              </a:extLst>
            </p:cNvPr>
            <p:cNvSpPr/>
            <p:nvPr/>
          </p:nvSpPr>
          <p:spPr>
            <a:xfrm>
              <a:off x="358724" y="2700951"/>
              <a:ext cx="4059937" cy="245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</a:rPr>
                <a:t>Physical bills collected via WhatsApp &amp; store visits (Jan–Mar 2025). Manually transcribed into Excel with separate Purchase &amp; Sales sheets</a:t>
              </a:r>
              <a:endParaRPr lang="en-US" sz="1050" dirty="0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2DEAF6C-E35D-6819-EF9D-4D9DE5158F78}"/>
              </a:ext>
            </a:extLst>
          </p:cNvPr>
          <p:cNvGrpSpPr/>
          <p:nvPr/>
        </p:nvGrpSpPr>
        <p:grpSpPr>
          <a:xfrm>
            <a:off x="4606465" y="2134476"/>
            <a:ext cx="4218902" cy="827572"/>
            <a:chOff x="358724" y="2423160"/>
            <a:chExt cx="4121836" cy="594360"/>
          </a:xfrm>
        </p:grpSpPr>
        <p:sp>
          <p:nvSpPr>
            <p:cNvPr id="55" name="Shape 15">
              <a:extLst>
                <a:ext uri="{FF2B5EF4-FFF2-40B4-BE49-F238E27FC236}">
                  <a16:creationId xmlns:a16="http://schemas.microsoft.com/office/drawing/2014/main" id="{7FC2DFB1-9E1A-AF85-08B1-CDFEF54DC5A3}"/>
                </a:ext>
              </a:extLst>
            </p:cNvPr>
            <p:cNvSpPr/>
            <p:nvPr/>
          </p:nvSpPr>
          <p:spPr>
            <a:xfrm>
              <a:off x="365760" y="2423160"/>
              <a:ext cx="41148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DDD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16">
              <a:extLst>
                <a:ext uri="{FF2B5EF4-FFF2-40B4-BE49-F238E27FC236}">
                  <a16:creationId xmlns:a16="http://schemas.microsoft.com/office/drawing/2014/main" id="{C66E9D83-89C7-1288-C165-063755033126}"/>
                </a:ext>
              </a:extLst>
            </p:cNvPr>
            <p:cNvSpPr/>
            <p:nvPr/>
          </p:nvSpPr>
          <p:spPr>
            <a:xfrm>
              <a:off x="377013" y="2429563"/>
              <a:ext cx="393192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b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Cleaning</a:t>
              </a:r>
            </a:p>
          </p:txBody>
        </p:sp>
        <p:sp>
          <p:nvSpPr>
            <p:cNvPr id="57" name="Text 17">
              <a:extLst>
                <a:ext uri="{FF2B5EF4-FFF2-40B4-BE49-F238E27FC236}">
                  <a16:creationId xmlns:a16="http://schemas.microsoft.com/office/drawing/2014/main" id="{55CB172B-646D-0F1B-A771-673922A0CDE4}"/>
                </a:ext>
              </a:extLst>
            </p:cNvPr>
            <p:cNvSpPr/>
            <p:nvPr/>
          </p:nvSpPr>
          <p:spPr>
            <a:xfrm>
              <a:off x="358724" y="2807661"/>
              <a:ext cx="4059937" cy="13903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050" dirty="0">
                  <a:solidFill>
                    <a:srgbClr val="374151"/>
                  </a:solidFill>
                </a:rPr>
                <a:t>Standardized date formats, product names, and category labels. Validated numeric fields. Divides the data into categories &amp; Calculated necessary Columns. </a:t>
              </a:r>
              <a:endParaRPr lang="en-US" sz="1050" dirty="0"/>
            </a:p>
            <a:p>
              <a:endParaRPr lang="en-US" sz="1050"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/ Pareto Analysis – Category Revenue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960120"/>
          <a:ext cx="3246120" cy="2743202"/>
        </p:xfrm>
        <a:graphic>
          <a:graphicData uri="http://schemas.openxmlformats.org/drawingml/2006/table">
            <a:tbl>
              <a:tblPr/>
              <a:tblGrid>
                <a:gridCol w="811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₹2,09,475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₹1,74,900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₹1,57,672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₹27,063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894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₹5,74,409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669280" y="3794760"/>
            <a:ext cx="3246120" cy="347472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categories = 94.4% of total revenue</a:t>
            </a:r>
            <a:endParaRPr lang="en-US" sz="12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3869B8-7E24-CC9E-1781-5DB8BC5EC77B}"/>
              </a:ext>
            </a:extLst>
          </p:cNvPr>
          <p:cNvGrpSpPr/>
          <p:nvPr/>
        </p:nvGrpSpPr>
        <p:grpSpPr>
          <a:xfrm>
            <a:off x="98474" y="981925"/>
            <a:ext cx="5465298" cy="3590075"/>
            <a:chOff x="0" y="0"/>
            <a:chExt cx="5837769" cy="3259667"/>
          </a:xfrm>
        </p:grpSpPr>
        <p:graphicFrame>
          <p:nvGraphicFramePr>
            <p:cNvPr id="8" name="Chart 7">
              <a:extLst>
                <a:ext uri="{FF2B5EF4-FFF2-40B4-BE49-F238E27FC236}">
                  <a16:creationId xmlns:a16="http://schemas.microsoft.com/office/drawing/2014/main" id="{3396F701-E15B-2E44-5E9A-7E9C2E1FC043}"/>
                </a:ext>
              </a:extLst>
            </p:cNvPr>
            <p:cNvGraphicFramePr/>
            <p:nvPr/>
          </p:nvGraphicFramePr>
          <p:xfrm>
            <a:off x="0" y="0"/>
            <a:ext cx="5837769" cy="3259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9" name="TextBox 3">
              <a:extLst>
                <a:ext uri="{FF2B5EF4-FFF2-40B4-BE49-F238E27FC236}">
                  <a16:creationId xmlns:a16="http://schemas.microsoft.com/office/drawing/2014/main" id="{9E675B95-9D15-9457-E06A-E6D129A9DC24}"/>
                </a:ext>
              </a:extLst>
            </p:cNvPr>
            <p:cNvSpPr txBox="1"/>
            <p:nvPr/>
          </p:nvSpPr>
          <p:spPr>
            <a:xfrm>
              <a:off x="3673064" y="375406"/>
              <a:ext cx="2108201" cy="584201"/>
            </a:xfrm>
            <a:prstGeom prst="rect">
              <a:avLst/>
            </a:prstGeom>
            <a:solidFill>
              <a:srgbClr val="FAF4EC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 dirty="0"/>
                <a:t>Class A - Top 70% revenue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Class B - Next 20% revenue</a:t>
              </a:r>
              <a:endParaRPr lang="en-US" sz="1000" b="1" dirty="0">
                <a:effectLst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1" dirty="0">
                  <a:solidFill>
                    <a:schemeClr val="dk1"/>
                  </a:solidFill>
                  <a:effectLst/>
                  <a:latin typeface="+mn-lt"/>
                  <a:ea typeface="+mn-ea"/>
                  <a:cs typeface="+mn-cs"/>
                </a:rPr>
                <a:t>Class C - Bottom 10% revenue</a:t>
              </a:r>
              <a:endParaRPr lang="en-US" sz="1000" b="1" dirty="0">
                <a:effectLst/>
              </a:endParaRPr>
            </a:p>
            <a:p>
              <a:endParaRPr lang="en-US" sz="1100" dirty="0"/>
            </a:p>
            <a:p>
              <a:endParaRPr lang="en-US" sz="110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263640" y="868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63640" y="868680"/>
            <a:ext cx="2560320" cy="365760"/>
          </a:xfrm>
          <a:prstGeom prst="rect">
            <a:avLst/>
          </a:prstGeom>
          <a:solidFill>
            <a:srgbClr val="4A0E0E"/>
          </a:solidFill>
          <a:ln w="12700">
            <a:solidFill>
              <a:srgbClr val="4A0E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55080" y="8869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73368" y="1298448"/>
            <a:ext cx="23774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Saree (EBR)
</a:t>
            </a: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₹84,150 from only 43 units
~₹1,957/piece avg
</a:t>
            </a: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Chamundi Range
</a:t>
            </a: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₹1,42,474 combined
(24.8% of revenue)
</a:t>
            </a: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14 SKUs
</a:t>
            </a: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72.9% of total revenue
</a:t>
            </a:r>
            <a:r>
              <a:rPr lang="en-US" sz="12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total SKUs analyzed
</a:t>
            </a:r>
            <a:endParaRPr lang="en-US" sz="1200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E6F8E6BF-C53A-281F-9BA8-362C042EA6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4937192"/>
              </p:ext>
            </p:extLst>
          </p:nvPr>
        </p:nvGraphicFramePr>
        <p:xfrm>
          <a:off x="56271" y="974588"/>
          <a:ext cx="6134217" cy="38260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 (Jan–Mar 2025)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A9B79-11D4-0C79-91B8-59BAB6C5A682}"/>
              </a:ext>
            </a:extLst>
          </p:cNvPr>
          <p:cNvGrpSpPr/>
          <p:nvPr/>
        </p:nvGrpSpPr>
        <p:grpSpPr>
          <a:xfrm>
            <a:off x="6035040" y="1431390"/>
            <a:ext cx="2743200" cy="749808"/>
            <a:chOff x="6080760" y="868680"/>
            <a:chExt cx="2743200" cy="749808"/>
          </a:xfrm>
        </p:grpSpPr>
        <p:sp>
          <p:nvSpPr>
            <p:cNvPr id="5" name="Shape 2"/>
            <p:cNvSpPr/>
            <p:nvPr/>
          </p:nvSpPr>
          <p:spPr>
            <a:xfrm>
              <a:off x="6080760" y="868680"/>
              <a:ext cx="2743200" cy="749808"/>
            </a:xfrm>
            <a:prstGeom prst="rect">
              <a:avLst/>
            </a:prstGeom>
            <a:solidFill>
              <a:srgbClr val="7B1C1C"/>
            </a:solidFill>
            <a:ln w="12700">
              <a:solidFill>
                <a:srgbClr val="7B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6190488" y="914400"/>
              <a:ext cx="252374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Month</a:t>
              </a:r>
              <a:endParaRPr lang="en-US" sz="11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6190488" y="1143000"/>
              <a:ext cx="25237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February</a:t>
              </a:r>
              <a:endParaRPr lang="en-US" sz="16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6190488" y="1399032"/>
              <a:ext cx="252374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894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₹2,58,926 revenue</a:t>
              </a:r>
              <a:endParaRPr lang="en-US" sz="10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B3805F4-E594-85F5-EC4D-AB0BA6D3E201}"/>
              </a:ext>
            </a:extLst>
          </p:cNvPr>
          <p:cNvGrpSpPr/>
          <p:nvPr/>
        </p:nvGrpSpPr>
        <p:grpSpPr>
          <a:xfrm>
            <a:off x="6035040" y="2338052"/>
            <a:ext cx="2743200" cy="749808"/>
            <a:chOff x="6080760" y="1719072"/>
            <a:chExt cx="2743200" cy="749808"/>
          </a:xfrm>
        </p:grpSpPr>
        <p:sp>
          <p:nvSpPr>
            <p:cNvPr id="9" name="Shape 6"/>
            <p:cNvSpPr/>
            <p:nvPr/>
          </p:nvSpPr>
          <p:spPr>
            <a:xfrm>
              <a:off x="6080760" y="1719072"/>
              <a:ext cx="2743200" cy="749808"/>
            </a:xfrm>
            <a:prstGeom prst="rect">
              <a:avLst/>
            </a:prstGeom>
            <a:solidFill>
              <a:srgbClr val="1A6B6B"/>
            </a:solidFill>
            <a:ln w="12700">
              <a:solidFill>
                <a:srgbClr val="1A6B6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6190488" y="1764792"/>
              <a:ext cx="252374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AE0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Peak Units</a:t>
              </a:r>
              <a:endParaRPr lang="en-US" sz="11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6190488" y="1993392"/>
              <a:ext cx="25237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434 pcs</a:t>
              </a:r>
              <a:endParaRPr lang="en-US" sz="16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190488" y="2249424"/>
              <a:ext cx="252374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AE0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Nearly 2× January</a:t>
              </a:r>
              <a:endParaRPr lang="en-US" sz="10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E7D96F0-4339-50C9-CF78-DFB1CACD2643}"/>
              </a:ext>
            </a:extLst>
          </p:cNvPr>
          <p:cNvGrpSpPr/>
          <p:nvPr/>
        </p:nvGrpSpPr>
        <p:grpSpPr>
          <a:xfrm>
            <a:off x="6080760" y="3244715"/>
            <a:ext cx="2743200" cy="749808"/>
            <a:chOff x="6080760" y="2569464"/>
            <a:chExt cx="2743200" cy="749808"/>
          </a:xfrm>
        </p:grpSpPr>
        <p:sp>
          <p:nvSpPr>
            <p:cNvPr id="13" name="Shape 10"/>
            <p:cNvSpPr/>
            <p:nvPr/>
          </p:nvSpPr>
          <p:spPr>
            <a:xfrm>
              <a:off x="6080760" y="2569464"/>
              <a:ext cx="2743200" cy="749808"/>
            </a:xfrm>
            <a:prstGeom prst="rect">
              <a:avLst/>
            </a:prstGeom>
            <a:solidFill>
              <a:srgbClr val="C8942A"/>
            </a:solidFill>
            <a:ln w="12700">
              <a:solidFill>
                <a:srgbClr val="C894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6190488" y="2615184"/>
              <a:ext cx="252374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2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Rev/Txn</a:t>
              </a:r>
              <a:endParaRPr lang="en-US" sz="11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190488" y="2843784"/>
              <a:ext cx="25237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₹14,385 (18)</a:t>
              </a:r>
              <a:endParaRPr lang="en-US" sz="160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190488" y="3099816"/>
              <a:ext cx="252374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FFF2C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Feb vs ₹9,911 Jan (23)</a:t>
              </a:r>
              <a:endParaRPr lang="en-US" sz="1000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09A7279-BC5F-37D5-334F-45FC35A6B3ED}"/>
              </a:ext>
            </a:extLst>
          </p:cNvPr>
          <p:cNvGrpSpPr/>
          <p:nvPr/>
        </p:nvGrpSpPr>
        <p:grpSpPr>
          <a:xfrm>
            <a:off x="6080760" y="4151382"/>
            <a:ext cx="2743200" cy="749808"/>
            <a:chOff x="6080760" y="3419856"/>
            <a:chExt cx="2743200" cy="749808"/>
          </a:xfrm>
        </p:grpSpPr>
        <p:sp>
          <p:nvSpPr>
            <p:cNvPr id="17" name="Shape 14"/>
            <p:cNvSpPr/>
            <p:nvPr/>
          </p:nvSpPr>
          <p:spPr>
            <a:xfrm>
              <a:off x="6080760" y="3419856"/>
              <a:ext cx="2743200" cy="749808"/>
            </a:xfrm>
            <a:prstGeom prst="rect">
              <a:avLst/>
            </a:prstGeom>
            <a:solidFill>
              <a:srgbClr val="888888"/>
            </a:solidFill>
            <a:ln w="12700">
              <a:solidFill>
                <a:srgbClr val="8888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5"/>
            <p:cNvSpPr/>
            <p:nvPr/>
          </p:nvSpPr>
          <p:spPr>
            <a:xfrm>
              <a:off x="6190488" y="3465576"/>
              <a:ext cx="2523744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DDDD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March Drop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6190488" y="3694176"/>
              <a:ext cx="2523744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–66.2%</a:t>
              </a:r>
              <a:endParaRPr lang="en-US" sz="1600" dirty="0"/>
            </a:p>
          </p:txBody>
        </p:sp>
        <p:sp>
          <p:nvSpPr>
            <p:cNvPr id="20" name="Text 17"/>
            <p:cNvSpPr/>
            <p:nvPr/>
          </p:nvSpPr>
          <p:spPr>
            <a:xfrm>
              <a:off x="6190488" y="3950208"/>
              <a:ext cx="2523744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DDDDD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Post-festival lows</a:t>
              </a:r>
              <a:endParaRPr lang="en-US" sz="1000" dirty="0"/>
            </a:p>
          </p:txBody>
        </p:sp>
      </p:grp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1A9E84A3-B6DE-19B4-3657-D9BDF6C733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939735"/>
              </p:ext>
            </p:extLst>
          </p:nvPr>
        </p:nvGraphicFramePr>
        <p:xfrm>
          <a:off x="292313" y="906313"/>
          <a:ext cx="5426204" cy="3366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 2">
            <a:extLst>
              <a:ext uri="{FF2B5EF4-FFF2-40B4-BE49-F238E27FC236}">
                <a16:creationId xmlns:a16="http://schemas.microsoft.com/office/drawing/2014/main" id="{1033500E-E360-1AF1-26DE-0D00DEEBBDAF}"/>
              </a:ext>
            </a:extLst>
          </p:cNvPr>
          <p:cNvSpPr/>
          <p:nvPr/>
        </p:nvSpPr>
        <p:spPr>
          <a:xfrm>
            <a:off x="6035039" y="906313"/>
            <a:ext cx="2679193" cy="347472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Key Insights : - </a:t>
            </a:r>
            <a:endParaRPr lang="en-US" sz="12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90A675A5-D53C-30C3-8CD7-12A72EBBCEB6}"/>
              </a:ext>
            </a:extLst>
          </p:cNvPr>
          <p:cNvSpPr/>
          <p:nvPr/>
        </p:nvSpPr>
        <p:spPr>
          <a:xfrm>
            <a:off x="102252" y="4429571"/>
            <a:ext cx="5777896" cy="516982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marL="171450" indent="-171450" algn="just">
              <a:buFont typeface="Wingdings" panose="05000000000000000000" pitchFamily="2" charset="2"/>
              <a:buChar char="v"/>
            </a:pPr>
            <a:r>
              <a:rPr lang="en-GB" sz="1200" b="1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demand spike reflects pre-wedding and spring festival season orders from B2B customers stocking up for Holi and the summer wedding season &amp; March Shows Sharp Decline because of </a:t>
            </a:r>
            <a:r>
              <a:rPr lang="en-US" sz="1200" b="1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post-festival demand low &amp; Financial year End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Revenue Distribution &amp; Risk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005840"/>
          <a:ext cx="4114800" cy="2127504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Lucky Silk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₹3,64,455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9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Shyam Silk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₹1,69,515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C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Pamecha Cloth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₹23,338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Kanchan Mewara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₹17,101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754880" y="3246120"/>
            <a:ext cx="4114800" cy="987552"/>
          </a:xfrm>
          <a:prstGeom prst="rect">
            <a:avLst/>
          </a:prstGeom>
          <a:solidFill>
            <a:srgbClr val="FFF0E0"/>
          </a:solidFill>
          <a:ln w="12700">
            <a:solidFill>
              <a:srgbClr val="9B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4892040" y="3291840"/>
            <a:ext cx="38404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Risk: -
</a:t>
            </a: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Silk Store + Shyam Silk (both Jodhpur) = </a:t>
            </a:r>
            <a:r>
              <a:rPr lang="en-US" sz="1100" b="1" dirty="0">
                <a:solidFill>
                  <a:srgbClr val="9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92.95%</a:t>
            </a: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revenue.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delayed payment could impair operations.</a:t>
            </a:r>
            <a:endParaRPr lang="en-US" sz="11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7B0E77D-0BDD-710E-BFA1-4C492070BF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9999577"/>
              </p:ext>
            </p:extLst>
          </p:nvPr>
        </p:nvGraphicFramePr>
        <p:xfrm>
          <a:off x="137160" y="1005840"/>
          <a:ext cx="4480560" cy="33787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Gap &amp; Gross Profit by Category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674603"/>
              </p:ext>
            </p:extLst>
          </p:nvPr>
        </p:nvGraphicFramePr>
        <p:xfrm>
          <a:off x="5577840" y="868680"/>
          <a:ext cx="3291840" cy="2606037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0E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₹35,202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16.8%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₹17,790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₹14,445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 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9B2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2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₹68,611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B655373C-0F4D-F514-EF87-06A7AC8EE68D}"/>
              </a:ext>
            </a:extLst>
          </p:cNvPr>
          <p:cNvGrpSpPr/>
          <p:nvPr/>
        </p:nvGrpSpPr>
        <p:grpSpPr>
          <a:xfrm>
            <a:off x="365760" y="4000678"/>
            <a:ext cx="8240839" cy="502920"/>
            <a:chOff x="365760" y="3657600"/>
            <a:chExt cx="8412480" cy="548640"/>
          </a:xfrm>
        </p:grpSpPr>
        <p:sp>
          <p:nvSpPr>
            <p:cNvPr id="6" name="Shape 2"/>
            <p:cNvSpPr/>
            <p:nvPr/>
          </p:nvSpPr>
          <p:spPr>
            <a:xfrm>
              <a:off x="365760" y="3657600"/>
              <a:ext cx="8412480" cy="548640"/>
            </a:xfrm>
            <a:prstGeom prst="rect">
              <a:avLst/>
            </a:prstGeom>
            <a:solidFill>
              <a:srgbClr val="EAF4EA"/>
            </a:solidFill>
            <a:ln w="12700">
              <a:solidFill>
                <a:srgbClr val="1B6B3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 3"/>
            <p:cNvSpPr/>
            <p:nvPr/>
          </p:nvSpPr>
          <p:spPr>
            <a:xfrm>
              <a:off x="502920" y="37033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50" b="1" dirty="0">
                  <a:solidFill>
                    <a:srgbClr val="1B6B3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95 units sold from pre-existing stock (not current-period purchases) — Print had largest drawdown (+59 units), signaling proactive restocking urgency.</a:t>
              </a:r>
              <a:endParaRPr lang="en-US" sz="115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AC79596-A010-6719-83B8-7B4F4178C4C1}"/>
              </a:ext>
            </a:extLst>
          </p:cNvPr>
          <p:cNvGrpSpPr/>
          <p:nvPr/>
        </p:nvGrpSpPr>
        <p:grpSpPr>
          <a:xfrm>
            <a:off x="365760" y="4566672"/>
            <a:ext cx="8285871" cy="448056"/>
            <a:chOff x="365760" y="4297680"/>
            <a:chExt cx="8412480" cy="502920"/>
          </a:xfrm>
        </p:grpSpPr>
        <p:sp>
          <p:nvSpPr>
            <p:cNvPr id="8" name="Shape 4"/>
            <p:cNvSpPr/>
            <p:nvPr/>
          </p:nvSpPr>
          <p:spPr>
            <a:xfrm>
              <a:off x="365760" y="4297680"/>
              <a:ext cx="8412480" cy="502920"/>
            </a:xfrm>
            <a:prstGeom prst="rect">
              <a:avLst/>
            </a:prstGeom>
            <a:solidFill>
              <a:srgbClr val="FFF0E0"/>
            </a:solidFill>
            <a:ln w="12700">
              <a:solidFill>
                <a:srgbClr val="C8942A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 5"/>
            <p:cNvSpPr/>
            <p:nvPr/>
          </p:nvSpPr>
          <p:spPr>
            <a:xfrm>
              <a:off x="502920" y="4334256"/>
              <a:ext cx="822960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50" i="1" dirty="0">
                  <a:solidFill>
                    <a:srgbClr val="7B1C1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Print = Highest-velocity category (highest revenue 36.5% AND highest margin 16.8%). Brush &amp; Woven category strategy need to be review. </a:t>
              </a:r>
              <a:endParaRPr lang="en-US" sz="115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932311-B135-B1DC-C6BE-F91512B220CD}"/>
              </a:ext>
            </a:extLst>
          </p:cNvPr>
          <p:cNvGrpSpPr/>
          <p:nvPr/>
        </p:nvGrpSpPr>
        <p:grpSpPr>
          <a:xfrm>
            <a:off x="-91440" y="849458"/>
            <a:ext cx="5669280" cy="3193130"/>
            <a:chOff x="-1849901" y="-2857"/>
            <a:chExt cx="5120640" cy="4451985"/>
          </a:xfrm>
        </p:grpSpPr>
        <p:graphicFrame>
          <p:nvGraphicFramePr>
            <p:cNvPr id="11" name="Chart 10">
              <a:extLst>
                <a:ext uri="{FF2B5EF4-FFF2-40B4-BE49-F238E27FC236}">
                  <a16:creationId xmlns:a16="http://schemas.microsoft.com/office/drawing/2014/main" id="{226534B3-5D7A-4C78-5C2F-AC62D3EBA1FB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839061882"/>
                </p:ext>
              </p:extLst>
            </p:nvPr>
          </p:nvGraphicFramePr>
          <p:xfrm>
            <a:off x="-1849901" y="-2857"/>
            <a:ext cx="5120640" cy="445198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712E6E50-2E8D-E081-A09B-560E3CA508FD}"/>
                </a:ext>
              </a:extLst>
            </p:cNvPr>
            <p:cNvSpPr txBox="1"/>
            <p:nvPr/>
          </p:nvSpPr>
          <p:spPr>
            <a:xfrm>
              <a:off x="-904901" y="932909"/>
              <a:ext cx="522578" cy="270934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FF0000"/>
                  </a:solidFill>
                </a:rPr>
                <a:t>+59 units</a:t>
              </a:r>
            </a:p>
            <a:p>
              <a:endParaRPr lang="en-US" sz="1100" dirty="0"/>
            </a:p>
          </p:txBody>
        </p:sp>
        <p:sp>
          <p:nvSpPr>
            <p:cNvPr id="13" name="TextBox 6">
              <a:extLst>
                <a:ext uri="{FF2B5EF4-FFF2-40B4-BE49-F238E27FC236}">
                  <a16:creationId xmlns:a16="http://schemas.microsoft.com/office/drawing/2014/main" id="{1E7FAD09-8811-4DC6-8BAD-8E7C308461AF}"/>
                </a:ext>
              </a:extLst>
            </p:cNvPr>
            <p:cNvSpPr txBox="1"/>
            <p:nvPr/>
          </p:nvSpPr>
          <p:spPr>
            <a:xfrm>
              <a:off x="948" y="1961878"/>
              <a:ext cx="534138" cy="228599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FF0000"/>
                  </a:solidFill>
                </a:rPr>
                <a:t>+28 units</a:t>
              </a:r>
            </a:p>
            <a:p>
              <a:endParaRPr lang="en-US" sz="800" dirty="0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E6777FA5-73CF-4FE8-9589-2CB9D4185E60}"/>
                </a:ext>
              </a:extLst>
            </p:cNvPr>
            <p:cNvSpPr txBox="1"/>
            <p:nvPr/>
          </p:nvSpPr>
          <p:spPr>
            <a:xfrm>
              <a:off x="806040" y="1418274"/>
              <a:ext cx="495222" cy="228599"/>
            </a:xfrm>
            <a:prstGeom prst="rect">
              <a:avLst/>
            </a:prstGeom>
            <a:solidFill>
              <a:schemeClr val="lt1"/>
            </a:solidFill>
            <a:ln w="9525" cmpd="sng">
              <a:solidFill>
                <a:schemeClr val="lt1">
                  <a:shade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t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solidFill>
                    <a:srgbClr val="FF0000"/>
                  </a:solidFill>
                </a:rPr>
                <a:t>+8 units</a:t>
              </a:r>
            </a:p>
            <a:p>
              <a:endParaRPr lang="en-US" sz="8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1234440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Inventory Segmentation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9821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reviews for Category A (Print, Others, Handwork). Bi-weekly for Brush. Evaluate Woven for de-listing.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502920" cy="123444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9418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Restocking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19821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Print &amp; Handwork stock by mid-December. Set reorder points at 2× weekly sales velocity for all Category A items.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502920" cy="123444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Diversification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57825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new B2B retailers in Jaipur, Bikaner &amp; Delhi NCR. Reduce Lucky Silk Store share from 63% to Below 45% over 12 months.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502920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634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23591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Policy Reform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574036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advance + 50% within 30 days for orders Above ₹50,000. Can introduce 1-2% as early-payment discount.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502920" cy="1234440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4114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72758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41648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GB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purchase prices with suppliers for key “Others” category SKUs — particularly Saree (EBR)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blanket 5% discount to 2-3% for premium 'Others' SKUs. Explore 5-8% price increase on artisanal Handwork items.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7033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502920" cy="1234440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63440" y="41148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57800" y="37764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Record-Keeping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4087368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weekly Excel log.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Medium-term: Vyapar/Tally ERP.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Long-term: Use Billing Software for min Stock alert &amp; demand forecasting.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2860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7772400" cy="27432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4114800" cy="1325880"/>
          </a:xfrm>
          <a:prstGeom prst="rect">
            <a:avLst/>
          </a:prstGeom>
          <a:solidFill>
            <a:srgbClr val="3D0A0A"/>
          </a:solidFill>
          <a:ln w="12700">
            <a:solidFill>
              <a:srgbClr val="6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Inventory Risk Identified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9903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units (12.3%) sold from pre-existing stock. Print faces highest stockout risk.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1325880"/>
          </a:xfrm>
          <a:prstGeom prst="rect">
            <a:avLst/>
          </a:prstGeom>
          <a:solidFill>
            <a:srgbClr val="3D0A0A"/>
          </a:solidFill>
          <a:ln w="12700">
            <a:solidFill>
              <a:srgbClr val="6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Seasonal Peak Confirmed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39903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2025 = +13.6% MoM growth. Jan–Feb window drives &gt;84% of quarterly revenue.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114800" cy="1325880"/>
          </a:xfrm>
          <a:prstGeom prst="rect">
            <a:avLst/>
          </a:prstGeom>
          <a:solidFill>
            <a:srgbClr val="3D0A0A"/>
          </a:solidFill>
          <a:ln w="12700">
            <a:solidFill>
              <a:srgbClr val="6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Print = Star Category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07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36.5% revenue share AND 16.8% gross margin — highest on both metrics.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468880"/>
            <a:ext cx="4114800" cy="1325880"/>
          </a:xfrm>
          <a:prstGeom prst="rect">
            <a:avLst/>
          </a:prstGeom>
          <a:solidFill>
            <a:srgbClr val="3D0A0A"/>
          </a:solidFill>
          <a:ln w="12700">
            <a:solidFill>
              <a:srgbClr val="6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25603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Customer Risk is 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2907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B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92.95% revenue from 2 customers, both in Jodhpur — geographic + demand concentration risk.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8321040" cy="731520"/>
          </a:xfrm>
          <a:prstGeom prst="rect">
            <a:avLst/>
          </a:prstGeom>
          <a:solidFill>
            <a:srgbClr val="C8942A"/>
          </a:solidFill>
          <a:ln w="12700">
            <a:solidFill>
              <a:srgbClr val="C89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4A0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data-driven decision-making, S.R. Trading Co. can transition from reactive management to a proactive, profitable, and resilient enterprise.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4F584A5-9969-4736-85BF-0D98462C750C}" vid="{0897A3C6-9E5F-4542-89C3-4AB9F83B5A9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349</TotalTime>
  <Words>1090</Words>
  <Application>Microsoft Office PowerPoint</Application>
  <PresentationFormat>On-screen Show (16:9)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S.R. Trading Co. – BDM Capstone Viva Voce</dc:title>
  <dc:subject>PptxGenJS Presentation</dc:subject>
  <dc:creator>PptxGenJS</dc:creator>
  <cp:lastModifiedBy>aman kumar</cp:lastModifiedBy>
  <cp:revision>5</cp:revision>
  <dcterms:created xsi:type="dcterms:W3CDTF">2026-05-10T07:23:57Z</dcterms:created>
  <dcterms:modified xsi:type="dcterms:W3CDTF">2026-05-12T09:13:17Z</dcterms:modified>
</cp:coreProperties>
</file>